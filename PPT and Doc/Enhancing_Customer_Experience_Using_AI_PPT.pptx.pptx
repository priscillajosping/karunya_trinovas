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Raleway Thin" charset="1" panose="020B0203030101060003"/>
      <p:regular r:id="rId18"/>
    </p:embeddedFont>
    <p:embeddedFont>
      <p:font typeface="Jonathan" charset="1" panose="00000000000000000000"/>
      <p:regular r:id="rId19"/>
    </p:embeddedFont>
    <p:embeddedFont>
      <p:font typeface="Calibri (MS)" charset="1" panose="020F0502020204030204"/>
      <p:regular r:id="rId20"/>
    </p:embeddedFont>
    <p:embeddedFont>
      <p:font typeface="Arapey Bold" charset="1" panose="02000000000000000000"/>
      <p:regular r:id="rId21"/>
    </p:embeddedFont>
    <p:embeddedFont>
      <p:font typeface="Arapey" charset="1" panose="02000000000000000000"/>
      <p:regular r:id="rId22"/>
    </p:embeddedFont>
    <p:embeddedFont>
      <p:font typeface="Moontime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9616" y="2136688"/>
            <a:ext cx="7954367" cy="215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7"/>
              </a:lnSpc>
            </a:pPr>
            <a:r>
              <a:rPr lang="en-US" sz="4762" spc="928">
                <a:solidFill>
                  <a:srgbClr val="000000"/>
                </a:solidFill>
                <a:latin typeface="Raleway Thin"/>
                <a:ea typeface="Raleway Thin"/>
                <a:cs typeface="Raleway Thin"/>
                <a:sym typeface="Raleway Thin"/>
              </a:rPr>
              <a:t>KARUNYA- TRINOVAS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79025" y="3564841"/>
            <a:ext cx="4195550" cy="1518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8927" spc="223">
                <a:solidFill>
                  <a:srgbClr val="000000"/>
                </a:solidFill>
                <a:latin typeface="Jonathan"/>
                <a:ea typeface="Jonathan"/>
                <a:cs typeface="Jonathan"/>
                <a:sym typeface="Jonathan"/>
              </a:rPr>
              <a:t>intel project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352033" y="470491"/>
            <a:ext cx="906754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343567" y="6895509"/>
            <a:ext cx="9059076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-5400000">
            <a:off x="-2864709" y="3678767"/>
            <a:ext cx="643348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-5400000">
            <a:off x="6194367" y="3687233"/>
            <a:ext cx="6433485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288942" y="5885830"/>
            <a:ext cx="2113701" cy="101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5"/>
              </a:lnSpc>
            </a:pPr>
            <a:r>
              <a:rPr lang="en-US" sz="21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Aashmi J</a:t>
            </a:r>
          </a:p>
          <a:p>
            <a:pPr algn="ctr">
              <a:lnSpc>
                <a:spcPts val="2575"/>
              </a:lnSpc>
            </a:pPr>
            <a:r>
              <a:rPr lang="en-US" sz="21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Priscilla Jospin G</a:t>
            </a:r>
          </a:p>
          <a:p>
            <a:pPr algn="ctr">
              <a:lnSpc>
                <a:spcPts val="2575"/>
              </a:lnSpc>
              <a:spcBef>
                <a:spcPct val="0"/>
              </a:spcBef>
            </a:pPr>
            <a:r>
              <a:rPr lang="en-US" sz="214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Joshua arul lamech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20228" y="976211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58012" y="461369"/>
            <a:ext cx="5037576" cy="121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4"/>
              </a:lnSpc>
              <a:spcBef>
                <a:spcPct val="0"/>
              </a:spcBef>
            </a:pPr>
            <a:r>
              <a:rPr lang="en-US" sz="7962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Introductio</a:t>
            </a:r>
            <a:r>
              <a:rPr lang="en-US" sz="7962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8812" y="2330072"/>
            <a:ext cx="7745586" cy="337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AI is revolutionizing e-commerce.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Customers demand quick, accurate, and intelligent responses.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This project focuses on using AI to elevate the customer experience in online shopping.</a:t>
            </a:r>
          </a:p>
          <a:p>
            <a:pPr algn="l">
              <a:lnSpc>
                <a:spcPts val="38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20228" y="976211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0321" y="461369"/>
            <a:ext cx="7692958" cy="1211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4"/>
              </a:lnSpc>
              <a:spcBef>
                <a:spcPct val="0"/>
              </a:spcBef>
            </a:pPr>
            <a:r>
              <a:rPr lang="en-US" sz="7962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Problem Statem</a:t>
            </a:r>
            <a:r>
              <a:rPr lang="en-US" sz="7962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88812" y="2330072"/>
            <a:ext cx="7745586" cy="337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Manual support systems are slow and inefficient.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Users struggle with product comparison, price lookups, and reviewing credibility.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There’s a need for an intelligent AI system to bridge these gaps.</a:t>
            </a:r>
          </a:p>
          <a:p>
            <a:pPr algn="l">
              <a:lnSpc>
                <a:spcPts val="38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20228" y="976211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4399" y="268055"/>
            <a:ext cx="5019798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Object</a:t>
            </a: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76494" y="1929238"/>
            <a:ext cx="6995608" cy="4813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Design an AI chatbot for Flipkart dataset queries.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Enable customers to: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Ask product-related questions.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Compare two products.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Fetch ratings, reviews, and price details.</a:t>
            </a:r>
          </a:p>
          <a:p>
            <a:pPr algn="l" marL="692984" indent="-346492" lvl="1">
              <a:lnSpc>
                <a:spcPts val="3851"/>
              </a:lnSpc>
              <a:spcBef>
                <a:spcPct val="0"/>
              </a:spcBef>
              <a:buFont typeface="Arial"/>
              <a:buChar char="•"/>
            </a:pPr>
            <a:r>
              <a:rPr lang="en-US" sz="3209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Optimize performance using lightweight deployment.</a:t>
            </a:r>
          </a:p>
          <a:p>
            <a:pPr algn="l">
              <a:lnSpc>
                <a:spcPts val="385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031383" y="1377046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1330" y="268055"/>
            <a:ext cx="3625937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Dataset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9637" y="1751454"/>
            <a:ext cx="9352016" cy="45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9"/>
              </a:lnSpc>
              <a:spcBef>
                <a:spcPct val="0"/>
              </a:spcBef>
            </a:pPr>
            <a:r>
              <a:rPr lang="en-US" sz="429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Source: Flipkart Dataset</a:t>
            </a:r>
          </a:p>
          <a:p>
            <a:pPr algn="l">
              <a:lnSpc>
                <a:spcPts val="5149"/>
              </a:lnSpc>
              <a:spcBef>
                <a:spcPct val="0"/>
              </a:spcBef>
            </a:pPr>
            <a:r>
              <a:rPr lang="en-US" sz="429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Format:</a:t>
            </a:r>
          </a:p>
          <a:p>
            <a:pPr algn="l">
              <a:lnSpc>
                <a:spcPts val="5149"/>
              </a:lnSpc>
              <a:spcBef>
                <a:spcPct val="0"/>
              </a:spcBef>
            </a:pPr>
            <a:r>
              <a:rPr lang="en-US" sz="429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JSON (100,000 entries)</a:t>
            </a:r>
          </a:p>
          <a:p>
            <a:pPr algn="l">
              <a:lnSpc>
                <a:spcPts val="5149"/>
              </a:lnSpc>
              <a:spcBef>
                <a:spcPct val="0"/>
              </a:spcBef>
            </a:pPr>
            <a:r>
              <a:rPr lang="en-US" sz="429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CSV (20,000 entries)</a:t>
            </a:r>
          </a:p>
          <a:p>
            <a:pPr algn="l">
              <a:lnSpc>
                <a:spcPts val="5149"/>
              </a:lnSpc>
              <a:spcBef>
                <a:spcPct val="0"/>
              </a:spcBef>
            </a:pPr>
            <a:r>
              <a:rPr lang="en-US" sz="429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Fields:</a:t>
            </a:r>
          </a:p>
          <a:p>
            <a:pPr algn="l">
              <a:lnSpc>
                <a:spcPts val="5149"/>
              </a:lnSpc>
              <a:spcBef>
                <a:spcPct val="0"/>
              </a:spcBef>
            </a:pPr>
            <a:r>
              <a:rPr lang="en-US" sz="429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Product Title, Description, Ratings, Reviews, Price, Features and etc..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031383" y="1377046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91402" y="2026629"/>
            <a:ext cx="6348486" cy="5086725"/>
          </a:xfrm>
          <a:custGeom>
            <a:avLst/>
            <a:gdLst/>
            <a:ahLst/>
            <a:cxnLst/>
            <a:rect r="r" b="b" t="t" l="l"/>
            <a:pathLst>
              <a:path h="5086725" w="6348486">
                <a:moveTo>
                  <a:pt x="0" y="0"/>
                </a:moveTo>
                <a:lnTo>
                  <a:pt x="6348486" y="0"/>
                </a:lnTo>
                <a:lnTo>
                  <a:pt x="6348486" y="5086724"/>
                </a:lnTo>
                <a:lnTo>
                  <a:pt x="0" y="5086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69604" y="268055"/>
            <a:ext cx="4809390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Flowchart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031383" y="1377046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20" y="1881985"/>
            <a:ext cx="8268159" cy="4940225"/>
          </a:xfrm>
          <a:custGeom>
            <a:avLst/>
            <a:gdLst/>
            <a:ahLst/>
            <a:cxnLst/>
            <a:rect r="r" b="b" t="t" l="l"/>
            <a:pathLst>
              <a:path h="4940225" w="8268159">
                <a:moveTo>
                  <a:pt x="0" y="0"/>
                </a:moveTo>
                <a:lnTo>
                  <a:pt x="8268159" y="0"/>
                </a:lnTo>
                <a:lnTo>
                  <a:pt x="8268159" y="4940225"/>
                </a:lnTo>
                <a:lnTo>
                  <a:pt x="0" y="494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77333" y="268055"/>
            <a:ext cx="5993931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Screenshots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031383" y="1377046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3045" y="1964639"/>
            <a:ext cx="8367510" cy="4989128"/>
          </a:xfrm>
          <a:custGeom>
            <a:avLst/>
            <a:gdLst/>
            <a:ahLst/>
            <a:cxnLst/>
            <a:rect r="r" b="b" t="t" l="l"/>
            <a:pathLst>
              <a:path h="4989128" w="8367510">
                <a:moveTo>
                  <a:pt x="0" y="0"/>
                </a:moveTo>
                <a:lnTo>
                  <a:pt x="8367510" y="0"/>
                </a:lnTo>
                <a:lnTo>
                  <a:pt x="8367510" y="4989128"/>
                </a:lnTo>
                <a:lnTo>
                  <a:pt x="0" y="4989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77333" y="268055"/>
            <a:ext cx="5993931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Screenshots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037249" y="1351993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5" y="0"/>
                </a:lnTo>
                <a:lnTo>
                  <a:pt x="14194055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5444" y="268055"/>
            <a:ext cx="6317708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Methodo</a:t>
            </a: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8491" y="2491349"/>
            <a:ext cx="9176617" cy="338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76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Preprocessing using pandas &amp; json</a:t>
            </a:r>
          </a:p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76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LLaMA 2-7B Chat Model → Fine-tuned using:</a:t>
            </a:r>
          </a:p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76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LoRA (Low-Rank Adaptation)</a:t>
            </a:r>
          </a:p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76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- 4-bit Quantization</a:t>
            </a:r>
          </a:p>
          <a:p>
            <a:pPr algn="l">
              <a:lnSpc>
                <a:spcPts val="4521"/>
              </a:lnSpc>
              <a:spcBef>
                <a:spcPct val="0"/>
              </a:spcBef>
            </a:pPr>
            <a:r>
              <a:rPr lang="en-US" sz="376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Converted to GGUF → PyTorch → ONNX → OpenVINO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20228" y="976211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0392" y="1839471"/>
            <a:ext cx="8861745" cy="3168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LOSS AFTER TRAINING: 0.3</a:t>
            </a:r>
          </a:p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SYSTEM HANDLES PRODUCT COMPARISON, PRICE CHECKING,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RATING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RE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TR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I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VAL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EFFE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TIV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</a:t>
            </a: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LY.</a:t>
            </a:r>
          </a:p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MODEL PERFORMS WELL IN CONSTRAINED ENVIRONMENTS (OPENVINO OPTIMIZED). FIG NUM1</a:t>
            </a:r>
          </a:p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</a:p>
          <a:p>
            <a:pPr algn="l">
              <a:lnSpc>
                <a:spcPts val="365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26723" y="268055"/>
            <a:ext cx="3495151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Resu</a:t>
            </a: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lts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4179" y="4258851"/>
            <a:ext cx="8105242" cy="2730322"/>
          </a:xfrm>
          <a:custGeom>
            <a:avLst/>
            <a:gdLst/>
            <a:ahLst/>
            <a:cxnLst/>
            <a:rect r="r" b="b" t="t" l="l"/>
            <a:pathLst>
              <a:path h="2730322" w="8105242">
                <a:moveTo>
                  <a:pt x="0" y="0"/>
                </a:moveTo>
                <a:lnTo>
                  <a:pt x="8105242" y="0"/>
                </a:lnTo>
                <a:lnTo>
                  <a:pt x="8105242" y="2730322"/>
                </a:lnTo>
                <a:lnTo>
                  <a:pt x="0" y="27303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369" t="0" r="-11369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E2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2220228" y="976211"/>
            <a:ext cx="14194055" cy="10131290"/>
          </a:xfrm>
          <a:custGeom>
            <a:avLst/>
            <a:gdLst/>
            <a:ahLst/>
            <a:cxnLst/>
            <a:rect r="r" b="b" t="t" l="l"/>
            <a:pathLst>
              <a:path h="10131290" w="14194055">
                <a:moveTo>
                  <a:pt x="0" y="0"/>
                </a:moveTo>
                <a:lnTo>
                  <a:pt x="14194056" y="0"/>
                </a:lnTo>
                <a:lnTo>
                  <a:pt x="14194056" y="10131290"/>
                </a:lnTo>
                <a:lnTo>
                  <a:pt x="0" y="10131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-262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7970" y="2691244"/>
            <a:ext cx="8861745" cy="454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AI-DRIVEN CUSTOMER INTERACTION BOOSTS EXPERIENCE.</a:t>
            </a:r>
          </a:p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- LIGHTWEIGHT DEPLOYMENT MAKES IT SCALABLE AND EFFICIENT.</a:t>
            </a:r>
          </a:p>
          <a:p>
            <a:pPr algn="l">
              <a:lnSpc>
                <a:spcPts val="3657"/>
              </a:lnSpc>
            </a:pPr>
            <a:r>
              <a:rPr lang="en-US" sz="2216" spc="387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  </a:t>
            </a:r>
            <a:r>
              <a:rPr lang="en-US" sz="2216" spc="387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FUTURE SCOPE:</a:t>
            </a:r>
          </a:p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ADD SPEECH-TO-TEXT AND MULTILINGUAL SUPPORT.</a:t>
            </a:r>
          </a:p>
          <a:p>
            <a:pPr algn="l" marL="478556" indent="-239278" lvl="1">
              <a:lnSpc>
                <a:spcPts val="3657"/>
              </a:lnSpc>
              <a:buFont typeface="Arial"/>
              <a:buChar char="•"/>
            </a:pPr>
            <a:r>
              <a:rPr lang="en-US" sz="2216" spc="387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 - INTEGRATE VISUAL SEARCH (IMAGE-TO-PRODUCT MATCH).</a:t>
            </a:r>
          </a:p>
          <a:p>
            <a:pPr algn="l">
              <a:lnSpc>
                <a:spcPts val="3657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980355" y="731520"/>
            <a:ext cx="5587887" cy="149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9"/>
              </a:lnSpc>
              <a:spcBef>
                <a:spcPct val="0"/>
              </a:spcBef>
            </a:pPr>
            <a:r>
              <a:rPr lang="en-US" sz="9808">
                <a:solidFill>
                  <a:srgbClr val="000000"/>
                </a:solidFill>
                <a:latin typeface="Arapey Bold"/>
                <a:ea typeface="Arapey Bold"/>
                <a:cs typeface="Arapey Bold"/>
                <a:sym typeface="Arapey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062" r="0" b="-500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46760" y="-579889"/>
            <a:ext cx="10842389" cy="7932032"/>
            <a:chOff x="0" y="0"/>
            <a:chExt cx="14456518" cy="105760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9793619" y="1505008"/>
              <a:ext cx="4662900" cy="9071035"/>
            </a:xfrm>
            <a:custGeom>
              <a:avLst/>
              <a:gdLst/>
              <a:ahLst/>
              <a:cxnLst/>
              <a:rect r="r" b="b" t="t" l="l"/>
              <a:pathLst>
                <a:path h="9071035" w="4662900">
                  <a:moveTo>
                    <a:pt x="0" y="0"/>
                  </a:moveTo>
                  <a:lnTo>
                    <a:pt x="4662899" y="0"/>
                  </a:lnTo>
                  <a:lnTo>
                    <a:pt x="4662899" y="9071035"/>
                  </a:lnTo>
                  <a:lnTo>
                    <a:pt x="0" y="9071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-21396" b="-12438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1639774">
              <a:off x="775516" y="406337"/>
              <a:ext cx="2754272" cy="4047985"/>
            </a:xfrm>
            <a:custGeom>
              <a:avLst/>
              <a:gdLst/>
              <a:ahLst/>
              <a:cxnLst/>
              <a:rect r="r" b="b" t="t" l="l"/>
              <a:pathLst>
                <a:path h="4047985" w="2754272">
                  <a:moveTo>
                    <a:pt x="2754272" y="0"/>
                  </a:moveTo>
                  <a:lnTo>
                    <a:pt x="0" y="0"/>
                  </a:lnTo>
                  <a:lnTo>
                    <a:pt x="0" y="4047985"/>
                  </a:lnTo>
                  <a:lnTo>
                    <a:pt x="2754272" y="4047985"/>
                  </a:lnTo>
                  <a:lnTo>
                    <a:pt x="2754272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10021" r="-33345" b="-5345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1978" y="1888853"/>
            <a:ext cx="7764346" cy="303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29"/>
              </a:lnSpc>
              <a:spcBef>
                <a:spcPct val="0"/>
              </a:spcBef>
            </a:pPr>
            <a:r>
              <a:rPr lang="en-US" sz="17806">
                <a:solidFill>
                  <a:srgbClr val="64574E"/>
                </a:solidFill>
                <a:latin typeface="Moontime"/>
                <a:ea typeface="Moontime"/>
                <a:cs typeface="Moontime"/>
                <a:sym typeface="Moontime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DAGjyn-TniY</dc:identifier>
  <dcterms:modified xsi:type="dcterms:W3CDTF">2011-08-01T06:04:30Z</dcterms:modified>
  <cp:revision>1</cp:revision>
  <dc:title>Enhancing_Customer_Experience_Using_AI_PPT.pptx</dc:title>
</cp:coreProperties>
</file>